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AI × DEVOPS · UYGULAMALI EĞİTİM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4F7F8"/>
                </a:solidFill>
                <a:latin typeface="Calibri"/>
              </a:rPr>
              <a:t>Kubernetes'te Yapay Zeka Destekli
Sorun Giderme Ajanı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9BA7AE"/>
                </a:solidFill>
                <a:latin typeface="Calibri"/>
              </a:rPr>
              <a:t>Local bir Kind cluster üzerinde çalışan, kuralları + AI'ı birleştirip
arızaları tespit eden ve onaylı düzeltme öneren bir DevOps asistanı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Hakan Bayraktar  ·  github.com/&lt;repo&gt;  ·  Medium makalesi açıklamada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AJANDA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Bu Videoda Ne Var?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Neden AI + DevOps? Bugün operasyonun değiştiği nokta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Problem: Kubernetes sorun gidermek neden zor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Çözüm: Ajan ne yapıyor — mimari ve akış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İki katmanlı zeka: önce deterministik kurallar, sonra AI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Güvenlik &amp; maliyet: maskeleme, rate-limit, insan onayı (human-in-the-loop)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Neden Kind? Gereksinimler ve kod yapısı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CANLI DEMO: arıza üret → tespit et → AI planı → düzelt</a:t>
            </a:r>
          </a:p>
          <a:p>
            <a:pPr>
              <a:spcAft>
                <a:spcPts val="11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Projeyi nasıl genişletirsiniz + repo &amp; Medium makalesi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BAĞLAM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Neden Şimdi? AI +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Modern sistemler dağıtık, geçici (ephemeral) ve gözlemlenmesi zor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Bir K8s arızasını anlamak için aynı anda bakmak gerekir: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9BA7AE"/>
                </a:solidFill>
                <a:latin typeface="Calibri"/>
              </a:rPr>
              <a:t>pod durumu · events · loglar · service selector'ları · endpoints · ingress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Bu bilgi parçalarını birleştirmek zaman ve tecrübe ister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AI burada 'sihir' değil — kanıtları (evidence) hızlıca okuyup yorumlayan bir asistan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Ama AI tek başına yeterli değil: maliyet, halüsinasyon ve güven sorunları var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9BA7AE"/>
                </a:solidFill>
                <a:latin typeface="Calibri"/>
              </a:rPr>
              <a:t>Bu yüzden önce deterministik kurallar, sonra gerektiğinde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Problem: Troubleshooting Dağınık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F4F7F8"/>
                </a:solidFill>
                <a:latin typeface="Calibri"/>
              </a:rPr>
              <a:t>Bir pod CrashLoopBackOff'a girdi. Şimdi ne yapacaksın?</a:t>
            </a:r>
          </a:p>
          <a:p>
            <a:pPr lvl="1">
              <a:spcAft>
                <a:spcPts val="900"/>
              </a:spcAft>
            </a:pPr>
            <a:r>
              <a:rPr sz="17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9BA7AE"/>
                </a:solidFill>
                <a:latin typeface="Calibri"/>
              </a:rPr>
              <a:t>kubectl get pods</a:t>
            </a:r>
          </a:p>
          <a:p>
            <a:pPr lvl="1">
              <a:spcAft>
                <a:spcPts val="900"/>
              </a:spcAft>
            </a:pPr>
            <a:r>
              <a:rPr sz="17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9BA7AE"/>
                </a:solidFill>
                <a:latin typeface="Calibri"/>
              </a:rPr>
              <a:t>kubectl describe pod ...</a:t>
            </a:r>
          </a:p>
          <a:p>
            <a:pPr lvl="1">
              <a:spcAft>
                <a:spcPts val="900"/>
              </a:spcAft>
            </a:pPr>
            <a:r>
              <a:rPr sz="17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9BA7AE"/>
                </a:solidFill>
                <a:latin typeface="Calibri"/>
              </a:rPr>
              <a:t>kubectl logs ... --previous</a:t>
            </a:r>
          </a:p>
          <a:p>
            <a:pPr lvl="1">
              <a:spcAft>
                <a:spcPts val="900"/>
              </a:spcAft>
            </a:pPr>
            <a:r>
              <a:rPr sz="17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9BA7AE"/>
                </a:solidFill>
                <a:latin typeface="Calibri"/>
              </a:rPr>
              <a:t>kubectl get events</a:t>
            </a:r>
          </a:p>
          <a:p>
            <a:pPr lvl="1">
              <a:spcAft>
                <a:spcPts val="900"/>
              </a:spcAft>
            </a:pPr>
            <a:r>
              <a:rPr sz="1700" b="0" i="0">
                <a:solidFill>
                  <a:srgbClr val="9BA7A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9BA7AE"/>
                </a:solidFill>
                <a:latin typeface="Calibri"/>
              </a:rPr>
              <a:t>kubectl get endpoints / ingress ...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F4F7F8"/>
                </a:solidFill>
                <a:latin typeface="Calibri"/>
              </a:rPr>
              <a:t>Junior bir mühendis için bu zincir göz korkutucu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F4F7F8"/>
                </a:solidFill>
                <a:latin typeface="Calibri"/>
              </a:rPr>
              <a:t>Senior için bile tekrarlayan, zaman alan bir iş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0574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alibri"/>
              </a:rPr>
              <a:t>Ortak arıza tipleri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CrashLoopBackOff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ImagePullBackOff / ErrImagePull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OOMKilled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CreateContainerConfigError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Pending / FailedScheduling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Service → No Endpoints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Ingress → Bad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ÇÖZÜM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Çözüm: Cluster İçinde Çalışan Bir Ajan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Cluster'ın İÇİNDE bir pod olarak çalışan FastAPI uygulaması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Pod, service, endpoint ve ingress'leri periyodik olarak tarar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Sağlıksız kaynaklar için kanıt toplar: durum, restart, loglar, events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Yerel kural motoru her bulguyu sınıflandırır (rule engine)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Gerekiyorsa maskelenmiş kanıtı Pioneer AI'a gönderir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Bulguları bir web dashboard'da gösterir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Düzeltme HER ZAMAN kullanıcı onayıyla uygulanır (human-in-the-loop)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ÖZET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Temel Özellikler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Yerel İzleme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CrashLoop, ImagePull, OOMKilled, ConfigError, Pending tespiti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7830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4767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Deterministik Kurallar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AI çağrısından önce hızlı, ücretsiz analiz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7830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4767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Opsiyonel AI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Karmaşık / bilinmeyen arızalar için Pioneer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3931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İnsan Onayı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Hiçbir patch onaysız uygulanmaz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34747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63931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Demo Senaryoları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Kasıtlı bozuk uygulamalarla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347472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639312"/>
            <a:ext cx="320954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9C4A5"/>
                </a:solidFill>
                <a:latin typeface="Calibri"/>
              </a:rPr>
              <a:t>Secret Maskeleme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9BA7AE"/>
                </a:solidFill>
                <a:latin typeface="Calibri"/>
              </a:rPr>
              <a:t>Log, prompt ve config'de hassas veri gizlenir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NASIL KURGULANDI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Mimari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93776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8288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39C4A5"/>
                </a:solidFill>
                <a:latin typeface="Calibri"/>
              </a:rPr>
              <a:t>Local Machine 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9BA7AE"/>
                </a:solidFill>
                <a:latin typeface="Calibri"/>
              </a:rPr>
              <a:t>Her şey kendi makinende — bulut maliyeti yok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9C4A5"/>
                </a:solidFill>
                <a:latin typeface="Calibri"/>
              </a:rPr>
              <a:t>Kind Cluster 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9BA7AE"/>
                </a:solidFill>
                <a:latin typeface="Calibri"/>
              </a:rPr>
              <a:t>Docker içinde gerçek bir Kubernetes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9C4A5"/>
                </a:solidFill>
                <a:latin typeface="Calibri"/>
              </a:rPr>
              <a:t>ai-kube-agent ns 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9BA7AE"/>
                </a:solidFill>
                <a:latin typeface="Calibri"/>
              </a:rPr>
              <a:t>FastAPI ajanı + SQLite cache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9C4A5"/>
                </a:solidFill>
                <a:latin typeface="Calibri"/>
              </a:rPr>
              <a:t>demo-broken-apps ns 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9BA7AE"/>
                </a:solidFill>
                <a:latin typeface="Calibri"/>
              </a:rPr>
              <a:t>Kasıtlı bozuk workload'lar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9C4A5"/>
                </a:solidFill>
                <a:latin typeface="Calibri"/>
              </a:rPr>
              <a:t>Pioneer AI API 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9BA7AE"/>
                </a:solidFill>
                <a:latin typeface="Calibri"/>
              </a:rPr>
              <a:t>Sadece gerektiğinde, dışarıya 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YERLEŞIM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Namespace'ler ve Bileşenler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onsolas"/>
              </a:rPr>
              <a:t>ai-kube-agent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Deployment (FastAPI + dashboard)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Service (ClusterIP)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ConfigMap (uygulama ayarları)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Secret (Pioneer API key)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ServiceAccount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450" b="0" i="0">
                <a:solidFill>
                  <a:srgbClr val="F4F7F8"/>
                </a:solidFill>
                <a:latin typeface="Calibri"/>
              </a:rPr>
              <a:t>ClusterRole + ClusterRoleBinding (RBAC)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85232" cy="429768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9D45"/>
                </a:solidFill>
                <a:latin typeface="Consolas"/>
              </a:rPr>
              <a:t>demo-broken-apps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crashloop-demo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imagepull-demo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oomkilled-demo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bad-config-demo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service-no-endpoints-demo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ingress-bad-backend-demo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network-policy-demo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FF9D45"/>
                </a:solidFill>
                <a:latin typeface="Calibri"/>
              </a:rPr>
              <a:t>›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ai-analysis-demo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AKIŞ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Nasıl Çalışır: Tarama Döngüsü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64792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Timer ya da UI → Tarama tetiklenir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14016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Scanner → K8s API'den pod, service, ingress, log, event çeker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26664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Rule Engine → deterministik kontroller, bulguları döner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Her bulgu için → fingerprint cache kontrolü (tekrar AI çağrısını önler)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88536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Yeni + AI izinliyse → maskelenmiş kanıt Pioneer AI'a gider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19472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Sonuç + opsiyonel patch önerisi → SQLite'a kaydedilir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568696"/>
            <a:ext cx="457200" cy="45720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7110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50408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50" b="0" i="0">
                <a:solidFill>
                  <a:srgbClr val="F4F7F8"/>
                </a:solidFill>
                <a:latin typeface="Calibri"/>
              </a:rPr>
              <a:t>Dashboard ve Prometheus metrikleri güncellenir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TASARIM FELSEFESI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İki Katmanlı Zeka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9C4A5"/>
                </a:solidFill>
                <a:latin typeface="Calibri"/>
              </a:rPr>
              <a:t>1 · Rule Engine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Deterministik, açıklanabilir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Hızlı ve ÜCRETSİZ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Offline çalışır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Bilinen arızaları kapsar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Her zaman ilk katman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70C7FF"/>
                </a:solidFill>
                <a:latin typeface="Calibri"/>
              </a:rPr>
              <a:t>2 · Pioneer AI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★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Karmaşık / bilinmeyen durumlar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★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Kök neden + insan dostu açıklama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★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Adım adım plan + patch önerisi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★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Sadece gerektiğinde tetiklenir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★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Maliyet ve risk kontrol altında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KATMAN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Rule Engine: Ne Kontrol Eder?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CrashLoopBackOff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restart sayısı, back-off, log ipuçları (connection refused, timeout, panic)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95728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32304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ImagePull / ErrImagePull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image adı, tag, imagePullSecrets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54096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OOMKilled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resource limit'leri, son termination reason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12464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Pending / FailedScheduling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node pressure, taint/toleration, PVC binding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70832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0740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CreateContainerConfigError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eksik ConfigMap / Secret referansı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6577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ServiceNoEndpoints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service selector ↔ pod label eşleşmesi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87568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24144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39C4A5"/>
                </a:solidFill>
                <a:latin typeface="Consolas"/>
              </a:rPr>
              <a:t>IngressBadBackend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referans verilen backend service ve port var 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KATMAN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Pioneer AI Entegrasyonu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4F7F8"/>
                </a:solidFill>
                <a:latin typeface="Calibri"/>
              </a:rPr>
              <a:t>AI açıkken maskelenmiş kanıt → /v1/chat/completions endpoint'ine gider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4F7F8"/>
                </a:solidFill>
                <a:latin typeface="Calibri"/>
              </a:rPr>
              <a:t>Sistem prompt: 'Sen bir Kubernetes SRE'sin. SADECE verilen kanıtı kullan.'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4F7F8"/>
                </a:solidFill>
                <a:latin typeface="Calibri"/>
              </a:rPr>
              <a:t>Model çıktısı yapılandırılmış JSON olarak döner: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10927080" cy="3200400"/>
          </a:xfrm>
          <a:prstGeom prst="roundRect">
            <a:avLst>
              <a:gd name="adj" fmla="val 6000"/>
            </a:avLst>
          </a:prstGeom>
          <a:solidFill>
            <a:srgbClr val="20262B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"summary": "...",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"probable_root_cause": "...",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"severity": "Critical/High/Medium/Low",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"recommended_actions": [...],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"junior_friendly_explanation": "...",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"action_plan": [...],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  "proposed_fix": { "patch_target": "deployment/v1", "patch_data": {} }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F4F7F8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ÖNEMLI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Güvenlik ve Maliyet Kontrolleri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onsolas"/>
              </a:rPr>
              <a:t>Secret Maskeleme   </a:t>
            </a:r>
            <a:r>
              <a:rPr sz="1400" b="0" i="0">
                <a:solidFill>
                  <a:srgbClr val="9BA7AE"/>
                </a:solidFill>
                <a:latin typeface="Calibri"/>
              </a:rPr>
              <a:t>Authorization: Bearer…, DATABASE_URL, password=…, token=… dışarı çıkmadan maskelenir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onsolas"/>
              </a:rPr>
              <a:t>Fingerprint Cache   </a:t>
            </a:r>
            <a:r>
              <a:rPr sz="1400" b="0" i="0">
                <a:solidFill>
                  <a:srgbClr val="9BA7AE"/>
                </a:solidFill>
                <a:latin typeface="Calibri"/>
              </a:rPr>
              <a:t>Aynı bulgu için tekrar tekrar AI çağrısı yapılmaz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onsolas"/>
              </a:rPr>
              <a:t>AI_RATE_LIMIT_PER_SCAN   </a:t>
            </a:r>
            <a:r>
              <a:rPr sz="1400" b="0" i="0">
                <a:solidFill>
                  <a:srgbClr val="9BA7AE"/>
                </a:solidFill>
                <a:latin typeface="Calibri"/>
              </a:rPr>
              <a:t>Tarama başına AI çağrı sayısı sınırlı (sliding-window)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079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onsolas"/>
              </a:rPr>
              <a:t>AI_MIN_SEVERITY   </a:t>
            </a:r>
            <a:r>
              <a:rPr sz="1400" b="0" i="0">
                <a:solidFill>
                  <a:srgbClr val="9BA7AE"/>
                </a:solidFill>
                <a:latin typeface="Calibri"/>
              </a:rPr>
              <a:t>Düşük önem seviyeli bulgular dışarı gönderilmez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0352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7667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9C4A5"/>
                </a:solidFill>
                <a:latin typeface="Consolas"/>
              </a:rPr>
              <a:t>Cold-start'ta AI kapalı   </a:t>
            </a:r>
            <a:r>
              <a:rPr sz="1400" b="0" i="0">
                <a:solidFill>
                  <a:srgbClr val="9BA7AE"/>
                </a:solidFill>
                <a:latin typeface="Calibri"/>
              </a:rPr>
              <a:t>Operatör her oturumda AI'ı bilinçli olarak açar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Düzeltme Akışı: İnsan Döngüde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F4F7F8"/>
                </a:solidFill>
                <a:latin typeface="Calibri"/>
              </a:rPr>
              <a:t>Scanner bir bulgu tespit eder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05456"/>
            <a:ext cx="502920" cy="50292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8716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F4F7F8"/>
                </a:solidFill>
                <a:latin typeface="Calibri"/>
              </a:rPr>
              <a:t>Kullanıcı bulguyu dashboard'da açar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82112"/>
            <a:ext cx="502920" cy="50292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6382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F4F7F8"/>
                </a:solidFill>
                <a:latin typeface="Calibri"/>
              </a:rPr>
              <a:t>Kullanıcı AI üretimi bir aksiyon planı ister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8768"/>
            <a:ext cx="502920" cy="502920"/>
          </a:xfrm>
          <a:prstGeom prst="ellipse">
            <a:avLst/>
          </a:prstGeom>
          <a:solidFill>
            <a:srgbClr val="FF9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4048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9D45"/>
                </a:solidFill>
                <a:latin typeface="Calibri"/>
              </a:rPr>
              <a:t>Üretilen patch incelenir ve ONAYLANIR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35424"/>
            <a:ext cx="502920" cy="50292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1713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F4F7F8"/>
                </a:solidFill>
                <a:latin typeface="Calibri"/>
              </a:rPr>
              <a:t>Backend patch'i SADECE onaydan sonra uygular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7110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9379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F4F7F8"/>
                </a:solidFill>
                <a:latin typeface="Calibri"/>
              </a:rPr>
              <a:t>Sonraki tarama iyileşmeyi doğrularsa → 'resolved'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GÜVENLI TASARIM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RBAC Sınırları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ServiceAccount bilinçli olarak kısıtlı yetkilere sahip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Okuma: cluster genelinde pod, service, endpoint, ingress, event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Yazma: sadece seçili demo namespace'indeki seçili kaynaklar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kube-system gibi hassas namespace'ler düzeltme kapsamı DIŞINDA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AI_REMEDIATION_NAMESPACES ile yazma alanı daraltılabilir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4F7F8"/>
                </a:solidFill>
                <a:latin typeface="Calibri"/>
              </a:rPr>
              <a:t>AI_REMEDIATION_MODE: sadece-öneri veya uygulanabilir-düzeltme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KURULUM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Neden Kind? Gereksinimler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Neden Kind?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Docker içinde GERÇEK Kubernetes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Saniyeler içinde kurulur / silinir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Bulut maliyeti ve kimlik yönetimi yok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Demo için izole, tek seferlik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CI/CD'de de aynı şekilde çalışır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Öğrenmek ve denemek için ideal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577840" cy="420624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Gereksinimler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Docker / Docker Desktop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24.0+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Kind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0.23+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kubectl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1.29+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Git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2.0+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Modern tarayıcı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—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9C4A5"/>
                </a:solidFill>
                <a:latin typeface="Calibri"/>
              </a:rPr>
              <a:t>› </a:t>
            </a:r>
            <a:r>
              <a:rPr sz="1500" b="1" i="0">
                <a:solidFill>
                  <a:srgbClr val="F4F7F8"/>
                </a:solidFill>
                <a:latin typeface="Calibri"/>
              </a:rPr>
              <a:t>(Opsiyonel) Pioneer API key  </a:t>
            </a:r>
            <a:r>
              <a:rPr sz="1400" b="0" i="0">
                <a:solidFill>
                  <a:srgbClr val="9BA7AE"/>
                </a:solidFill>
                <a:latin typeface="Consolas"/>
              </a:rPr>
              <a:t>AI için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KODLAMA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Kod Yapısı: Modüller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app/main.py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FastAPI app, route'lar, tarama döngüsü,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app/scanner.py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Tarama orkestrasyonu; kural + AI'ı birleştirir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87752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app/rule_engine.py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Deterministik analizörler (pod / service / ingress)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87752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app/ai_client.py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Pioneer AI client, prompt'lar, rate limiter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38144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02152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app/k8s_client.py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Kubernetes API erişimi (list / read / patch)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38144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02152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app/masking.py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Hassas verilerin maskelenmesi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88536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52544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app/storage.py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SQLite kalıcılık + ayar persist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88536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352544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app/models.py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Pydantic modeller, fingerprint üretimi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38928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02936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app/config.py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Env tabanlı ayarlar (Settings)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5138928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202936"/>
            <a:ext cx="5120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39C4A5"/>
                </a:solidFill>
                <a:latin typeface="Consolas"/>
              </a:rPr>
              <a:t>app/metrics.py</a:t>
            </a:r>
          </a:p>
          <a:p>
            <a:r>
              <a:rPr sz="1200" b="0" i="0">
                <a:solidFill>
                  <a:srgbClr val="9BA7AE"/>
                </a:solidFill>
                <a:latin typeface="Calibri"/>
              </a:rPr>
              <a:t>Prometheus metrikleri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ARAYÜZ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680960" cy="3765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7373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Üst bar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cluster, kaynak sağlığı, AI durumu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Sayaçlar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Active / Critical / High / Medium / Low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Tablo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aktif &amp; çözülmüş bulgular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Detay paneli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kanıt + AI analizi + plan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Run Scan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manuel tarama tetikle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39C4A5"/>
                </a:solidFill>
                <a:latin typeface="Calibri"/>
              </a:rPr>
              <a:t>Create Problem  </a:t>
            </a:r>
          </a:p>
          <a:p>
            <a:r>
              <a:rPr sz="1300" b="0" i="0">
                <a:solidFill>
                  <a:srgbClr val="9BA7AE"/>
                </a:solidFill>
                <a:latin typeface="Calibri"/>
              </a:rPr>
              <a:t>demo arıza üret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CANLI DEMO — Akış Planı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1 · ./scripts/local_test.sh → Kind cluster + ajan + demo'lar tek komutta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2 · Dashboard'ı aç: http://127.0.0.1:18080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3 · 'Create Problem' → Memory Limit Exceeded (OOMKilled) deploy et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4 · 'Run Scan' → bulgunun listeye düşmesini göster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5 · Bulguya tıkla → kanıt + 'Detected by Rules' bölümünü göster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6 · AI'ı aç → 'Generate AI Plan' → kök neden + adım adım plan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7 · Önerilen patch'i incele → onayla → uygula</a:t>
            </a:r>
          </a:p>
          <a:p>
            <a:pPr>
              <a:spcAft>
                <a:spcPts val="1100"/>
              </a:spcAft>
            </a:pPr>
            <a:r>
              <a:rPr sz="185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1850" b="0" i="0">
                <a:solidFill>
                  <a:srgbClr val="F4F7F8"/>
                </a:solidFill>
                <a:latin typeface="Calibri"/>
              </a:rPr>
              <a:t>8 · Tekrar tara → bulgu 'Solved Problems'a geçsin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BOZUK UYGULAMALAR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Demo Senaryoları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Python Web App Crash Loop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DB bağlantı hatasıyla sürekli çöker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956816"/>
            <a:ext cx="1188720" cy="347472"/>
          </a:xfrm>
          <a:prstGeom prst="roundRect">
            <a:avLst/>
          </a:prstGeom>
          <a:solidFill>
            <a:srgbClr val="FF9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Go Web App Crash Loop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2 replica, exit code 1 ile anında çöker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715768"/>
            <a:ext cx="1188720" cy="347472"/>
          </a:xfrm>
          <a:prstGeom prst="roundRect">
            <a:avLst/>
          </a:prstGeom>
          <a:solidFill>
            <a:srgbClr val="FF9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00984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46704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Invalid Container Image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olmayan tag → ImagePullBackOff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474720"/>
            <a:ext cx="1188720" cy="347472"/>
          </a:xfrm>
          <a:prstGeom prst="roundRect">
            <a:avLst/>
          </a:prstGeom>
          <a:solidFill>
            <a:srgbClr val="F2D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59936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05656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Missing ConfigMap Reference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eksik ConfigMap → ConfigError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4233672"/>
            <a:ext cx="1188720" cy="347472"/>
          </a:xfrm>
          <a:prstGeom prst="roundRect">
            <a:avLst/>
          </a:prstGeom>
          <a:solidFill>
            <a:srgbClr val="F2D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18888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Memory Limit Exceeded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bellek aşımı → OOMKilled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4992624"/>
            <a:ext cx="1188720" cy="347472"/>
          </a:xfrm>
          <a:prstGeom prst="roundRect">
            <a:avLst/>
          </a:prstGeom>
          <a:solidFill>
            <a:srgbClr val="FF9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77840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8961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4F7F8"/>
                </a:solidFill>
                <a:latin typeface="Calibri"/>
              </a:rPr>
              <a:t>Service / Ingress hataları   </a:t>
            </a:r>
            <a:r>
              <a:rPr sz="1350" b="0" i="0">
                <a:solidFill>
                  <a:srgbClr val="9BA7AE"/>
                </a:solidFill>
                <a:latin typeface="Calibri"/>
              </a:rPr>
              <a:t>no-endpoints, bad-backend, network-policy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751576"/>
            <a:ext cx="1188720" cy="347472"/>
          </a:xfrm>
          <a:prstGeom prst="roundRect">
            <a:avLst/>
          </a:prstGeom>
          <a:solidFill>
            <a:srgbClr val="70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10F"/>
                </a:solidFill>
                <a:latin typeface="Calibri"/>
              </a:rPr>
              <a:t>MIX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SIZIN SIRANIZ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Projeyi Nasıl Genişletirsiniz?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Yeni AI Sağlayıcı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ai_client.py'a yeni client ekle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config.py'a env değişkenleri ekle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PIONEER_ENDPOINT / PIONEER_MODEL'i yönlendir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9C4A5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Örn: OpenAI, Bedrock, yerel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0C7FF"/>
                </a:solidFill>
                <a:latin typeface="Calibri"/>
              </a:rPr>
              <a:t>Yeni Deterministik Kural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rule_engine.py'daki analizörleri genişlet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Yeni arıza tipini sınıflandır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tests/test_rule_engine.py'a test ekle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70C7FF"/>
                </a:solidFill>
                <a:latin typeface="Calibri"/>
              </a:rPr>
              <a:t>+ </a:t>
            </a:r>
            <a:r>
              <a:rPr sz="1500" b="0" i="0">
                <a:solidFill>
                  <a:srgbClr val="F4F7F8"/>
                </a:solidFill>
                <a:latin typeface="Calibri"/>
              </a:rPr>
              <a:t>Örn: HPA, PDB, CertManager kontrolleri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DEVAMI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Kaynaklar: Repo + Makale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GitHub Repo  </a:t>
            </a:r>
            <a:r>
              <a:rPr sz="1500" b="0" i="0">
                <a:solidFill>
                  <a:srgbClr val="9BA7AE"/>
                </a:solidFill>
                <a:latin typeface="Calibri"/>
              </a:rPr>
              <a:t>— tüm kod, manifest'ler, demo'lar ve scriptler</a:t>
            </a:r>
          </a:p>
          <a:p>
            <a:r>
              <a:rPr sz="1500" b="0" i="0">
                <a:solidFill>
                  <a:srgbClr val="F4F7F8"/>
                </a:solidFill>
                <a:latin typeface="Consolas"/>
              </a:rPr>
              <a:t>git clone … &amp;&amp; ./scripts/local_test.sh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D2328"/>
          </a:solidFill>
          <a:ln w="12700">
            <a:solidFill>
              <a:srgbClr val="20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9C4A5"/>
                </a:solidFill>
                <a:latin typeface="Calibri"/>
              </a:rPr>
              <a:t>Medium Makalesi  </a:t>
            </a:r>
            <a:r>
              <a:rPr sz="1500" b="0" i="0">
                <a:solidFill>
                  <a:srgbClr val="9BA7AE"/>
                </a:solidFill>
                <a:latin typeface="Calibri"/>
              </a:rPr>
              <a:t>— derinlemesine anlatım, tasarım kararları, ekran görüntüleri</a:t>
            </a:r>
          </a:p>
          <a:p>
            <a:r>
              <a:rPr sz="1500" b="0" i="0">
                <a:solidFill>
                  <a:srgbClr val="F4F7F8"/>
                </a:solidFill>
                <a:latin typeface="Calibri"/>
              </a:rPr>
              <a:t>Link açıklamada / video sonunda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9D45"/>
                </a:solidFill>
                <a:latin typeface="Calibri"/>
              </a:rPr>
              <a:t>İpucu: </a:t>
            </a:r>
            <a:r>
              <a:rPr sz="1600" b="0" i="0">
                <a:solidFill>
                  <a:srgbClr val="F4F7F8"/>
                </a:solidFill>
                <a:latin typeface="Calibri"/>
              </a:rPr>
              <a:t>Önce repo'yu çalıştırın, sonra makaleyle derinleşin — kod + yazı birlikte en iyi öğretir.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9C4A5"/>
                </a:solidFill>
                <a:latin typeface="Calibri"/>
              </a:rPr>
              <a:t>SONUÇ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4F7F8"/>
                </a:solidFill>
                <a:latin typeface="Calibri"/>
              </a:rPr>
              <a:t>Özet — Akılda Kalsın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463040" cy="381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AI, DevOps'ta sihir değil; kanıtı hızlı okuyan bir asistan</a:t>
            </a:r>
          </a:p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Önce deterministik kurallar → hız, ücretsizlik, açıklanabilirlik</a:t>
            </a:r>
          </a:p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AI sadece gerektiğinde → maliyet ve risk kontrol altında</a:t>
            </a:r>
          </a:p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Maskeleme + rate-limit + insan onayı = güvenli otomasyon</a:t>
            </a:r>
          </a:p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Kind sayesinde her şey lokalde, maliyetsiz ve tekrar edilebilir</a:t>
            </a:r>
          </a:p>
          <a:p>
            <a:pPr>
              <a:spcAft>
                <a:spcPts val="1300"/>
              </a:spcAft>
            </a:pPr>
            <a:r>
              <a:rPr sz="2100" b="1" i="0">
                <a:solidFill>
                  <a:srgbClr val="39C4A5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F4F7F8"/>
                </a:solidFill>
                <a:latin typeface="Calibri"/>
              </a:rPr>
              <a:t>Genişletilebilir mimari: yeni provider, yeni kural eklemek kolay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7AE"/>
                </a:solidFill>
                <a:latin typeface="Calibri"/>
              </a:rPr>
              <a:t>AI K8s Agent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C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F4F7F8"/>
                </a:solidFill>
                <a:latin typeface="Calibri"/>
              </a:rPr>
              <a:t>Teşekkürler!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9BA7AE"/>
                </a:solidFill>
                <a:latin typeface="Calibri"/>
              </a:rPr>
              <a:t>Repo'yu klonla, local_test.sh'i çalıştır, kendi kuralını ekle.</a:t>
            </a:r>
          </a:p>
          <a:p>
            <a:pPr>
              <a:spcBef>
                <a:spcPts val="1000"/>
              </a:spcBef>
            </a:pPr>
            <a:r>
              <a:rPr sz="1800" b="1" i="0">
                <a:solidFill>
                  <a:srgbClr val="39C4A5"/>
                </a:solidFill>
                <a:latin typeface="Calibri"/>
              </a:rPr>
              <a:t>Beğendiysen abone ol · Repo ve Medium linki açıklamada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4F7F8"/>
                </a:solidFill>
                <a:latin typeface="Calibri"/>
              </a:rPr>
              <a:t>Hakan Bayraktar — AI Kubernetes Troubleshooting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